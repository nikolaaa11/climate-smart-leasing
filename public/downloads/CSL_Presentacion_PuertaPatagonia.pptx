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sl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95815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9D4B"/>
                </a:solidFill>
                <a:latin typeface="Helvetica"/>
              </a:rPr>
              <a:t>ESTADO DE CUENTA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54680"/>
            <a:ext cx="10972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1D1D1F"/>
                </a:solidFill>
                <a:latin typeface="Helvetica"/>
              </a:rPr>
              <a:t>Comunidad Edificio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1D1D1F"/>
                </a:solidFill>
                <a:latin typeface="Helvetica"/>
              </a:rPr>
              <a:t>Puerta Patagonia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E6E73"/>
                </a:solidFill>
                <a:latin typeface="Helvetica"/>
              </a:rPr>
              <a:t>Vilanova 250 · Las Condes · Región Metropolitana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Helvetica"/>
              </a:rPr>
              <a:t>Al 29 de mayo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126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Helvetica"/>
              </a:rPr>
              <a:t>Climate Smart Leasing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sl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766524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5943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9D4B"/>
                </a:solidFill>
                <a:latin typeface="Helvetica"/>
              </a:rPr>
              <a:t>TU CUENTA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1D1D1F"/>
                </a:solidFill>
                <a:latin typeface="Helvetica"/>
              </a:rPr>
              <a:t>Estás al día.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6E6E73"/>
                </a:solidFill>
                <a:latin typeface="Helvetica"/>
              </a:rPr>
              <a:t>Has cubierto íntegramente las cuotas facturadas hasta hoy: renta y anticipo prorrateado.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63440"/>
            <a:ext cx="3505200" cy="155448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892040"/>
            <a:ext cx="286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E6E73"/>
                </a:solidFill>
                <a:latin typeface="Helvetica"/>
              </a:rPr>
              <a:t>Facturado a 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57800"/>
            <a:ext cx="2865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D1D1F"/>
                </a:solidFill>
                <a:latin typeface="Helvetica"/>
              </a:rPr>
              <a:t>$10.316.383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4663440"/>
            <a:ext cx="3505200" cy="155448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3920" y="4892040"/>
            <a:ext cx="286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E6E73"/>
                </a:solidFill>
                <a:latin typeface="Helvetica"/>
              </a:rPr>
              <a:t>Total pagado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3920" y="5257800"/>
            <a:ext cx="2865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D1D1F"/>
                </a:solidFill>
                <a:latin typeface="Helvetica"/>
              </a:rPr>
              <a:t>$10.316.383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4663440"/>
            <a:ext cx="3505200" cy="155448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7720" y="4892040"/>
            <a:ext cx="286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E6E73"/>
                </a:solidFill>
                <a:latin typeface="Helvetica"/>
              </a:rPr>
              <a:t>Saldo 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7720" y="5257800"/>
            <a:ext cx="2865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A9D4B"/>
                </a:solidFill>
                <a:latin typeface="Helvetica"/>
              </a:rPr>
              <a:t>$0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sl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766524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5943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9D4B"/>
                </a:solidFill>
                <a:latin typeface="Helvetica"/>
              </a:rPr>
              <a:t>CUOTAS FACTURADAS HASTA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D1D1F"/>
                </a:solidFill>
                <a:latin typeface="Helvetica"/>
              </a:rPr>
              <a:t>Detalle de pagos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E73"/>
                </a:solidFill>
                <a:latin typeface="Helvetica"/>
              </a:rPr>
              <a:t>Cuotas 1 y 2 del contrato (abril y mayo 2026), totalmente cubiertas.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Cuota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651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651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Renta + 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Anticipo + 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517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651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Pagado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2651760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Estado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10908792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C-1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0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Abril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00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$3.166.949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2004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$1.983.334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2004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D1D1F"/>
                </a:solidFill>
                <a:latin typeface="Helvetica"/>
              </a:rPr>
              <a:t>$5.150.283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04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$5.150.283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3200400"/>
            <a:ext cx="1261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A9D4B"/>
                </a:solidFill>
                <a:latin typeface="Helvetica"/>
              </a:rPr>
              <a:t>Pagada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40"/>
            <a:ext cx="10908792" cy="635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C-2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7947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Mayo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794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$3.182.766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7947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$1.983.334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7947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D1D1F"/>
                </a:solidFill>
                <a:latin typeface="Helvetica"/>
              </a:rPr>
              <a:t>$5.166.100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7947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$5.166.100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3794760"/>
            <a:ext cx="1261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A9D4B"/>
                </a:solidFill>
                <a:latin typeface="Helvetica"/>
              </a:rPr>
              <a:t>Pagada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43400"/>
            <a:ext cx="10908792" cy="635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26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E6E73"/>
                </a:solidFill>
                <a:latin typeface="Helvetica"/>
              </a:rPr>
              <a:t>Totales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262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D1D1F"/>
                </a:solidFill>
                <a:latin typeface="Helvetica"/>
              </a:rPr>
              <a:t>$10.316.383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5262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A9D4B"/>
                </a:solidFill>
                <a:latin typeface="Helvetica"/>
              </a:rPr>
              <a:t>$10.316.383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Helvetica"/>
              </a:rPr>
              <a:t>Las 2 cuotas de anticipo prorrateado se aplicaron a los pagos de dic-2025 y feb-2026.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sl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766524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5943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9D4B"/>
                </a:solidFill>
                <a:latin typeface="Helvetica"/>
              </a:rPr>
              <a:t>PRÓXIMOS VENCIMIENTOS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D1D1F"/>
                </a:solidFill>
                <a:latin typeface="Helvetica"/>
              </a:rPr>
              <a:t>Las cuotas que vienen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E73"/>
                </a:solidFill>
                <a:latin typeface="Helvetica"/>
              </a:rPr>
              <a:t>Cuotas 3 a 6 incluyen anticipo prorrateado (≈$5,2M c/u). Desde la cuota 7 (octubre), solo renta (≈$3,2M).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908792" cy="658368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822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9D4B"/>
                </a:solidFill>
                <a:latin typeface="Helvetica"/>
              </a:rPr>
              <a:t>C-3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88920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Helvetica"/>
              </a:rPr>
              <a:t>Junio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788920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73"/>
                </a:solidFill>
                <a:latin typeface="Helvetica"/>
              </a:rPr>
              <a:t>Renta + anticipo c3/6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788920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Helvetica"/>
              </a:rPr>
              <a:t>~$5.166.100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788920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Helvetica"/>
              </a:rPr>
              <a:t>Vence 05-jul-2026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02152"/>
            <a:ext cx="10908792" cy="658368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02152"/>
            <a:ext cx="822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9D4B"/>
                </a:solidFill>
                <a:latin typeface="Helvetica"/>
              </a:rPr>
              <a:t>C-4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02152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Helvetica"/>
              </a:rPr>
              <a:t>Julio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502152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73"/>
                </a:solidFill>
                <a:latin typeface="Helvetica"/>
              </a:rPr>
              <a:t>Renta + anticipo c4/6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502152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Helvetica"/>
              </a:rPr>
              <a:t>~$5.166.100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3502152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Helvetica"/>
              </a:rPr>
              <a:t>Vence 05-ago-2026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15384"/>
            <a:ext cx="10908792" cy="658368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15384"/>
            <a:ext cx="822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9D4B"/>
                </a:solidFill>
                <a:latin typeface="Helvetica"/>
              </a:rPr>
              <a:t>C-5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215384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Helvetica"/>
              </a:rPr>
              <a:t>Agosto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215384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73"/>
                </a:solidFill>
                <a:latin typeface="Helvetica"/>
              </a:rPr>
              <a:t>Renta + anticipo c5/6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215384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Helvetica"/>
              </a:rPr>
              <a:t>~$5.166.100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215384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Helvetica"/>
              </a:rPr>
              <a:t>Vence 05-sep-2026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28616"/>
            <a:ext cx="10908792" cy="658368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28616"/>
            <a:ext cx="822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9D4B"/>
                </a:solidFill>
                <a:latin typeface="Helvetica"/>
              </a:rPr>
              <a:t>C-6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928616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Helvetica"/>
              </a:rPr>
              <a:t>Septiembre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928616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73"/>
                </a:solidFill>
                <a:latin typeface="Helvetica"/>
              </a:rPr>
              <a:t>Renta + anticipo c6/6 (último)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928616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Helvetica"/>
              </a:rPr>
              <a:t>~$5.166.100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4928616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Helvetica"/>
              </a:rPr>
              <a:t>Vence 05-oct-2026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641848"/>
            <a:ext cx="10908792" cy="658368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641848"/>
            <a:ext cx="822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9D4B"/>
                </a:solidFill>
                <a:latin typeface="Helvetica"/>
              </a:rPr>
              <a:t>C-7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641848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Helvetica"/>
              </a:rPr>
              <a:t>Octubre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641848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73"/>
                </a:solidFill>
                <a:latin typeface="Helvetica"/>
              </a:rPr>
              <a:t>Solo renta (sin anticipo)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641848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Helvetica"/>
              </a:rPr>
              <a:t>~$3.182.766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5641848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Helvetica"/>
              </a:rPr>
              <a:t>Vence 05-nov-2026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sl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766524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5943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9D4B"/>
                </a:solidFill>
                <a:latin typeface="Helvetica"/>
              </a:rPr>
              <a:t>RESUMEN DEL CONTRATO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D1D1F"/>
                </a:solidFill>
                <a:latin typeface="Helvetica"/>
              </a:rPr>
              <a:t>Tu contrato en cifras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20231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Renta mensual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20231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D1D1F"/>
                </a:solidFill>
                <a:latin typeface="Helvetica"/>
              </a:rPr>
              <a:t>67,127 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0231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Helvetica"/>
              </a:rPr>
              <a:t>+ IVA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0430" y="237744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4750" y="2606040"/>
            <a:ext cx="20231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Cuotas totales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4750" y="2971800"/>
            <a:ext cx="20231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D1D1F"/>
                </a:solidFill>
                <a:latin typeface="Helvetica"/>
              </a:rP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0" y="3657600"/>
            <a:ext cx="20231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Helvetica"/>
              </a:rPr>
              <a:t>abril 2026 → marzo 2029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237744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5100" y="2606040"/>
            <a:ext cx="20231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Anticipo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2971800"/>
            <a:ext cx="20231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D1D1F"/>
                </a:solidFill>
                <a:latin typeface="Helvetica"/>
              </a:rPr>
              <a:t>$10.000.000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3657600"/>
            <a:ext cx="20231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Helvetica"/>
              </a:rPr>
              <a:t>+ IVA · 6 cuotas (c1-c6)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1130" y="237744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5450" y="2606040"/>
            <a:ext cx="20231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Vigencia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5450" y="2971800"/>
            <a:ext cx="20231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D1D1F"/>
                </a:solidFill>
                <a:latin typeface="Helvetica"/>
              </a:rPr>
              <a:t>36 meses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5450" y="3657600"/>
            <a:ext cx="20231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Helvetica"/>
              </a:rPr>
              <a:t>Cuenta Santander 9427891-0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9D4B"/>
                </a:solidFill>
                <a:latin typeface="Helvetica"/>
              </a:rPr>
              <a:t>Equipos arrendados (Vilanova)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D1D1F"/>
                </a:solidFill>
                <a:latin typeface="Helvetica"/>
              </a:rPr>
              <a:t>2× Bombas de Calor Powerworld 60 kW R290  ·  2× sistemas de recirculación Friwasta Z-60-K  ·  4× estanques de inercia 1.700 L  ·  sistema de bombeo  ·  tablero eléctrico de fuerza y control con monitoreo PHI.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Helvetica"/>
              </a:rPr>
              <a:t>Obra recepcionada definitivamente el 08-abr-2026 — sin observaciones pendientes.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sl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766524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5943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9D4B"/>
                </a:solidFill>
                <a:latin typeface="Helvetica"/>
              </a:rPr>
              <a:t>CÓMO PAGAR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D1D1F"/>
                </a:solidFill>
                <a:latin typeface="Helvetica"/>
              </a:rPr>
              <a:t>Datos para tu transferencia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E73"/>
                </a:solidFill>
                <a:latin typeface="Helvetica"/>
              </a:rPr>
              <a:t>Por mensualidades anticipadas, dentro de los primeros 5 días hábiles de cada 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908792" cy="32004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3246120"/>
            <a:ext cx="6519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D1D1F"/>
                </a:solidFill>
                <a:latin typeface="Helvetica"/>
              </a:rPr>
              <a:t>Banco Santander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657600"/>
            <a:ext cx="9902952" cy="635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03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CUENTA CORRIENTE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703320"/>
            <a:ext cx="6519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D1D1F"/>
                </a:solidFill>
                <a:latin typeface="Helvetica"/>
              </a:rPr>
              <a:t>N° 9427891-0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114800"/>
            <a:ext cx="9902952" cy="635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TITULAR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160520"/>
            <a:ext cx="6519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D1D1F"/>
                </a:solidFill>
                <a:latin typeface="Helvetica"/>
              </a:rPr>
              <a:t>Climate Smart Leasing SpA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4572000"/>
            <a:ext cx="9902952" cy="635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17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RUT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617720"/>
            <a:ext cx="6519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D1D1F"/>
                </a:solidFill>
                <a:latin typeface="Helvetica"/>
              </a:rPr>
              <a:t>77.868.887-5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029200"/>
            <a:ext cx="9902952" cy="635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074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6E73"/>
                </a:solidFill>
                <a:latin typeface="Helvetica"/>
              </a:rPr>
              <a:t>EMAIL CONFIRMACIÓN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5074920"/>
            <a:ext cx="6519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D1D1F"/>
                </a:solidFill>
                <a:latin typeface="Helvetica"/>
              </a:rPr>
              <a:t>contacto@climatesmartleasing.com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5486400"/>
            <a:ext cx="9902952" cy="635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Helvetica"/>
              </a:rPr>
              <a:t>Al confirmar el pago, envíanos el comprobante por email para acelerar la conciliación.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sl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95815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37744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1D1D1F"/>
                </a:solidFill>
                <a:latin typeface="Helvetica"/>
              </a:rPr>
              <a:t>Gracias por tu confianza.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233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E6E73"/>
                </a:solidFill>
                <a:latin typeface="Helvetica"/>
              </a:rPr>
              <a:t>Si tienes cualquier consulta sobre tu estado de cuenta o tu contrato,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6E6E73"/>
                </a:solidFill>
                <a:latin typeface="Helvetica"/>
              </a:rPr>
              <a:t>escríbenos y te respondemos a la brevedad.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73"/>
                </a:solidFill>
                <a:latin typeface="Helvetica"/>
              </a:rPr>
              <a:t>Climate Smart Leasing SpA  ·  RUT 77.868.887-5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Helvetica"/>
              </a:rPr>
              <a:t>Avenida Chacabuco 485, Of. 302, Concepción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